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6.png" ContentType="image/png"/>
  <Override PartName="/ppt/media/image10.png" ContentType="image/png"/>
  <Override PartName="/ppt/media/image5.png" ContentType="image/png"/>
  <Override PartName="/ppt/media/image4.png" ContentType="image/png"/>
  <Override PartName="/ppt/media/image3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1.png" ContentType="image/png"/>
  <Override PartName="/ppt/media/image24.png" ContentType="image/png"/>
  <Override PartName="/ppt/media/image2.png" ContentType="image/png"/>
  <Override PartName="/ppt/media/image25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44200B-27B0-472E-B12C-1D6CA266E87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C60E375-21F1-4756-B815-CD7DFA43539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4B52A9B-F3E7-47DB-BF8F-FF09BDC224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262BF16-7074-4B9D-B327-53941B18A63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13F9391-5503-48BA-8D22-00757942F98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929BD5-8770-47AC-AB41-6DFA31C1C18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4E5BDB2-0838-4DF7-9ED9-B518E90948C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636A17-9CE3-471C-93CC-C0D4F5CE3B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A4B884-8912-42EF-9EA0-170BD82C4F5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3E96F1-4351-4DDF-B24F-BF271F84213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4DE672-710D-4C7A-830A-DA6337C4C69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ADF548-47C1-4A95-B56B-8F59EB2A75D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02C1933-522F-4AA8-B3E0-47B78F813EF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A45151E-0EAC-4573-BCE7-B39C4D9840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B92F725-615C-4C04-BADB-3ACE1417E36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5FE3753-0460-4248-94EE-40D74B0CDF5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016315A-FB8A-437F-9060-10C078DF9B5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C272D02-2AF3-4005-8CB4-15067519945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FFE5CA5-5F5A-4703-80E3-42DFA979CE3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FD9E324-CC90-4414-A571-ADBFBA83F8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8AFA795-6D76-4551-8676-D28780EC788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23A6BF3-8B1F-4713-A0D5-B3EF5B79F0C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FD6000A-D83B-428B-B72D-D154B5E90D0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F161E61-E599-4624-93CD-ED75E5CBEC8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248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576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1021506B-D106-4780-B073-F87F07CD7E6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576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</a:t>
            </a:r>
            <a:r>
              <a:rPr b="0" lang="en-US" sz="4400" spc="-1" strike="noStrike">
                <a:latin typeface="Arial"/>
              </a:rPr>
              <a:t>l</a:t>
            </a:r>
            <a:r>
              <a:rPr b="0" lang="en-US" sz="4400" spc="-1" strike="noStrike">
                <a:latin typeface="Arial"/>
              </a:rPr>
              <a:t>i</a:t>
            </a:r>
            <a:r>
              <a:rPr b="0" lang="en-US" sz="4400" spc="-1" strike="noStrike">
                <a:latin typeface="Arial"/>
              </a:rPr>
              <a:t>c</a:t>
            </a:r>
            <a:r>
              <a:rPr b="0" lang="en-US" sz="4400" spc="-1" strike="noStrike">
                <a:latin typeface="Arial"/>
              </a:rPr>
              <a:t>k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o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d</a:t>
            </a:r>
            <a:r>
              <a:rPr b="0" lang="en-US" sz="4400" spc="-1" strike="noStrike">
                <a:latin typeface="Arial"/>
              </a:rPr>
              <a:t>i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h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i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l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x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f</a:t>
            </a:r>
            <a:r>
              <a:rPr b="0" lang="en-US" sz="4400" spc="-1" strike="noStrike">
                <a:latin typeface="Arial"/>
              </a:rPr>
              <a:t>o</a:t>
            </a:r>
            <a:r>
              <a:rPr b="0" lang="en-US" sz="4400" spc="-1" strike="noStrike">
                <a:latin typeface="Arial"/>
              </a:rPr>
              <a:t>r</a:t>
            </a:r>
            <a:r>
              <a:rPr b="0" lang="en-US" sz="4400" spc="-1" strike="noStrike">
                <a:latin typeface="Arial"/>
              </a:rPr>
              <a:t>m</a:t>
            </a:r>
            <a:r>
              <a:rPr b="0" lang="en-US" sz="4400" spc="-1" strike="noStrike">
                <a:latin typeface="Arial"/>
              </a:rPr>
              <a:t>a</a:t>
            </a:r>
            <a:r>
              <a:rPr b="0" lang="en-US" sz="4400" spc="-1" strike="noStrike">
                <a:latin typeface="Arial"/>
              </a:rPr>
              <a:t>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248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576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E86538C1-FC87-4234-B074-DF79CAE44C16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576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" descr=""/>
          <p:cNvPicPr/>
          <p:nvPr/>
        </p:nvPicPr>
        <p:blipFill>
          <a:blip r:embed="rId1"/>
          <a:stretch/>
        </p:blipFill>
        <p:spPr>
          <a:xfrm>
            <a:off x="3648600" y="1162440"/>
            <a:ext cx="2521080" cy="3635640"/>
          </a:xfrm>
          <a:prstGeom prst="rect">
            <a:avLst/>
          </a:prstGeom>
          <a:ln w="0">
            <a:noFill/>
          </a:ln>
        </p:spPr>
      </p:pic>
      <p:sp>
        <p:nvSpPr>
          <p:cNvPr id="83" name=""/>
          <p:cNvSpPr/>
          <p:nvPr/>
        </p:nvSpPr>
        <p:spPr>
          <a:xfrm flipH="1">
            <a:off x="6123600" y="3922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"/>
          <p:cNvSpPr/>
          <p:nvPr/>
        </p:nvSpPr>
        <p:spPr>
          <a:xfrm>
            <a:off x="6955200" y="3742200"/>
            <a:ext cx="21880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Monomer name 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 flipH="1">
            <a:off x="6132960" y="4246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"/>
          <p:cNvSpPr/>
          <p:nvPr/>
        </p:nvSpPr>
        <p:spPr>
          <a:xfrm flipH="1">
            <a:off x="6142320" y="4534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"/>
          <p:cNvSpPr/>
          <p:nvPr/>
        </p:nvSpPr>
        <p:spPr>
          <a:xfrm>
            <a:off x="6955200" y="4354200"/>
            <a:ext cx="2196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 letter name (PDB)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5871600" y="1143000"/>
            <a:ext cx="454680" cy="2512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"/>
          <p:cNvSpPr/>
          <p:nvPr/>
        </p:nvSpPr>
        <p:spPr>
          <a:xfrm flipH="1">
            <a:off x="5257800" y="2514600"/>
            <a:ext cx="1600200" cy="228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"/>
          <p:cNvSpPr/>
          <p:nvPr/>
        </p:nvSpPr>
        <p:spPr>
          <a:xfrm flipH="1" flipV="1">
            <a:off x="5257800" y="2286000"/>
            <a:ext cx="1609560" cy="2394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"/>
          <p:cNvSpPr/>
          <p:nvPr/>
        </p:nvSpPr>
        <p:spPr>
          <a:xfrm>
            <a:off x="6955200" y="4101480"/>
            <a:ext cx="13215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BILN name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6955200" y="2338200"/>
            <a:ext cx="21880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R-groups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" descr=""/>
          <p:cNvPicPr/>
          <p:nvPr/>
        </p:nvPicPr>
        <p:blipFill>
          <a:blip r:embed="rId1"/>
          <a:stretch/>
        </p:blipFill>
        <p:spPr>
          <a:xfrm>
            <a:off x="1371600" y="228600"/>
            <a:ext cx="5755680" cy="5064840"/>
          </a:xfrm>
          <a:prstGeom prst="rect">
            <a:avLst/>
          </a:prstGeom>
          <a:ln w="0">
            <a:noFill/>
          </a:ln>
        </p:spPr>
      </p:pic>
      <p:sp>
        <p:nvSpPr>
          <p:cNvPr id="94" name=""/>
          <p:cNvSpPr/>
          <p:nvPr/>
        </p:nvSpPr>
        <p:spPr>
          <a:xfrm>
            <a:off x="7795800" y="685800"/>
            <a:ext cx="1346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Text search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7796160" y="1297800"/>
            <a:ext cx="172548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Monomer class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7796520" y="4177800"/>
            <a:ext cx="228240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Proposed Monomers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 flipH="1">
            <a:off x="6629400" y="914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8" name=""/>
          <p:cNvSpPr/>
          <p:nvPr/>
        </p:nvSpPr>
        <p:spPr>
          <a:xfrm flipH="1">
            <a:off x="6638760" y="1454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"/>
          <p:cNvSpPr/>
          <p:nvPr/>
        </p:nvSpPr>
        <p:spPr>
          <a:xfrm flipH="1">
            <a:off x="6648120" y="4370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"/>
          <p:cNvSpPr/>
          <p:nvPr/>
        </p:nvSpPr>
        <p:spPr>
          <a:xfrm flipH="1">
            <a:off x="5715000" y="3429000"/>
            <a:ext cx="20574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"/>
          <p:cNvSpPr/>
          <p:nvPr/>
        </p:nvSpPr>
        <p:spPr>
          <a:xfrm>
            <a:off x="7796520" y="2881800"/>
            <a:ext cx="2031480" cy="12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Append/prepend/ monomer to BILN sequence of given Chain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 flipH="1" flipV="1">
            <a:off x="2743200" y="2743200"/>
            <a:ext cx="5029200" cy="685800"/>
          </a:xfrm>
          <a:prstGeom prst="line">
            <a:avLst/>
          </a:prstGeom>
          <a:ln w="36720">
            <a:solidFill>
              <a:srgbClr val="ff0000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"/>
          <p:cNvSpPr/>
          <p:nvPr/>
        </p:nvSpPr>
        <p:spPr>
          <a:xfrm flipH="1" flipV="1">
            <a:off x="3657600" y="2743200"/>
            <a:ext cx="4138920" cy="685800"/>
          </a:xfrm>
          <a:prstGeom prst="line">
            <a:avLst/>
          </a:prstGeom>
          <a:ln w="36720">
            <a:solidFill>
              <a:srgbClr val="ff0000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" descr=""/>
          <p:cNvPicPr/>
          <p:nvPr/>
        </p:nvPicPr>
        <p:blipFill>
          <a:blip r:embed="rId1"/>
          <a:stretch/>
        </p:blipFill>
        <p:spPr>
          <a:xfrm>
            <a:off x="565200" y="819000"/>
            <a:ext cx="6940080" cy="3837240"/>
          </a:xfrm>
          <a:prstGeom prst="rect">
            <a:avLst/>
          </a:prstGeom>
          <a:ln w="0">
            <a:noFill/>
          </a:ln>
        </p:spPr>
      </p:pic>
      <p:sp>
        <p:nvSpPr>
          <p:cNvPr id="105" name=""/>
          <p:cNvSpPr/>
          <p:nvPr/>
        </p:nvSpPr>
        <p:spPr>
          <a:xfrm flipH="1">
            <a:off x="7250760" y="2462400"/>
            <a:ext cx="75024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"/>
          <p:cNvSpPr/>
          <p:nvPr/>
        </p:nvSpPr>
        <p:spPr>
          <a:xfrm>
            <a:off x="5257800" y="685800"/>
            <a:ext cx="2283840" cy="411264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"/>
          <p:cNvSpPr/>
          <p:nvPr/>
        </p:nvSpPr>
        <p:spPr>
          <a:xfrm>
            <a:off x="8012520" y="2269800"/>
            <a:ext cx="1205640" cy="60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Monomer 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library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 flipH="1">
            <a:off x="1572120" y="685800"/>
            <a:ext cx="6480" cy="1020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"/>
          <p:cNvSpPr/>
          <p:nvPr/>
        </p:nvSpPr>
        <p:spPr>
          <a:xfrm>
            <a:off x="560880" y="361800"/>
            <a:ext cx="195300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BILN sequence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 flipH="1">
            <a:off x="2901960" y="685800"/>
            <a:ext cx="298440" cy="1587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11" name=""/>
          <p:cNvSpPr/>
          <p:nvPr/>
        </p:nvSpPr>
        <p:spPr>
          <a:xfrm>
            <a:off x="2721240" y="361800"/>
            <a:ext cx="1850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3D constraints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885600" y="4789800"/>
            <a:ext cx="1445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2D depiction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3225600" y="4789800"/>
            <a:ext cx="1445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3D depiction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613800" y="937800"/>
            <a:ext cx="4485240" cy="103284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5" name=""/>
          <p:cNvSpPr/>
          <p:nvPr/>
        </p:nvSpPr>
        <p:spPr>
          <a:xfrm>
            <a:off x="613800" y="2017800"/>
            <a:ext cx="4485240" cy="72324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"/>
          <p:cNvSpPr/>
          <p:nvPr/>
        </p:nvSpPr>
        <p:spPr>
          <a:xfrm>
            <a:off x="649800" y="2815200"/>
            <a:ext cx="2127240" cy="184104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"/>
          <p:cNvSpPr/>
          <p:nvPr/>
        </p:nvSpPr>
        <p:spPr>
          <a:xfrm>
            <a:off x="2863800" y="2815200"/>
            <a:ext cx="2229840" cy="184104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8" name=""/>
          <p:cNvSpPr/>
          <p:nvPr/>
        </p:nvSpPr>
        <p:spPr>
          <a:xfrm flipV="1">
            <a:off x="1708200" y="4379400"/>
            <a:ext cx="360" cy="4734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19" name=""/>
          <p:cNvSpPr/>
          <p:nvPr/>
        </p:nvSpPr>
        <p:spPr>
          <a:xfrm flipV="1">
            <a:off x="3796200" y="4389120"/>
            <a:ext cx="360" cy="47304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"/>
          <p:cNvSpPr/>
          <p:nvPr/>
        </p:nvSpPr>
        <p:spPr>
          <a:xfrm flipH="1">
            <a:off x="7260120" y="1022760"/>
            <a:ext cx="75024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"/>
          <p:cNvSpPr/>
          <p:nvPr/>
        </p:nvSpPr>
        <p:spPr>
          <a:xfrm>
            <a:off x="8012520" y="829800"/>
            <a:ext cx="1359360" cy="99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Access to 1D/2D/3D output 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" descr=""/>
          <p:cNvPicPr/>
          <p:nvPr/>
        </p:nvPicPr>
        <p:blipFill>
          <a:blip r:embed="rId1"/>
          <a:stretch/>
        </p:blipFill>
        <p:spPr>
          <a:xfrm>
            <a:off x="4572000" y="133200"/>
            <a:ext cx="2832840" cy="2741400"/>
          </a:xfrm>
          <a:prstGeom prst="rect">
            <a:avLst/>
          </a:prstGeom>
          <a:ln w="0">
            <a:noFill/>
          </a:ln>
        </p:spPr>
      </p:pic>
      <p:pic>
        <p:nvPicPr>
          <p:cNvPr id="123" name="" descr=""/>
          <p:cNvPicPr/>
          <p:nvPr/>
        </p:nvPicPr>
        <p:blipFill>
          <a:blip r:embed="rId2"/>
          <a:stretch/>
        </p:blipFill>
        <p:spPr>
          <a:xfrm>
            <a:off x="685800" y="139680"/>
            <a:ext cx="2658960" cy="2572560"/>
          </a:xfrm>
          <a:prstGeom prst="rect">
            <a:avLst/>
          </a:prstGeom>
          <a:ln w="0">
            <a:noFill/>
          </a:ln>
        </p:spPr>
      </p:pic>
      <p:sp>
        <p:nvSpPr>
          <p:cNvPr id="124" name=""/>
          <p:cNvSpPr/>
          <p:nvPr/>
        </p:nvSpPr>
        <p:spPr>
          <a:xfrm flipV="1">
            <a:off x="1758600" y="1837800"/>
            <a:ext cx="429120" cy="2145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"/>
          <p:cNvSpPr/>
          <p:nvPr/>
        </p:nvSpPr>
        <p:spPr>
          <a:xfrm flipV="1">
            <a:off x="1750320" y="2556360"/>
            <a:ext cx="429120" cy="2142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"/>
          <p:cNvSpPr/>
          <p:nvPr/>
        </p:nvSpPr>
        <p:spPr>
          <a:xfrm>
            <a:off x="1092960" y="2610720"/>
            <a:ext cx="962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Click 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1092960" y="1833480"/>
            <a:ext cx="962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Click 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 flipV="1">
            <a:off x="3691800" y="181800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pic>
        <p:nvPicPr>
          <p:cNvPr id="129" name="" descr=""/>
          <p:cNvPicPr/>
          <p:nvPr/>
        </p:nvPicPr>
        <p:blipFill>
          <a:blip r:embed="rId3"/>
          <a:stretch/>
        </p:blipFill>
        <p:spPr>
          <a:xfrm>
            <a:off x="4572000" y="2876400"/>
            <a:ext cx="2832840" cy="2741400"/>
          </a:xfrm>
          <a:prstGeom prst="rect">
            <a:avLst/>
          </a:prstGeom>
          <a:ln w="0">
            <a:noFill/>
          </a:ln>
        </p:spPr>
      </p:pic>
      <p:pic>
        <p:nvPicPr>
          <p:cNvPr id="130" name="" descr=""/>
          <p:cNvPicPr/>
          <p:nvPr/>
        </p:nvPicPr>
        <p:blipFill>
          <a:blip r:embed="rId4"/>
          <a:stretch/>
        </p:blipFill>
        <p:spPr>
          <a:xfrm>
            <a:off x="545760" y="2927520"/>
            <a:ext cx="2832840" cy="2741400"/>
          </a:xfrm>
          <a:prstGeom prst="rect">
            <a:avLst/>
          </a:prstGeom>
          <a:ln w="0">
            <a:noFill/>
          </a:ln>
        </p:spPr>
      </p:pic>
      <p:sp>
        <p:nvSpPr>
          <p:cNvPr id="131" name=""/>
          <p:cNvSpPr/>
          <p:nvPr/>
        </p:nvSpPr>
        <p:spPr>
          <a:xfrm flipH="1" flipV="1">
            <a:off x="3682440" y="451548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"/>
          <p:cNvSpPr/>
          <p:nvPr/>
        </p:nvSpPr>
        <p:spPr>
          <a:xfrm flipV="1">
            <a:off x="5484960" y="4977720"/>
            <a:ext cx="429120" cy="2142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"/>
          <p:cNvSpPr/>
          <p:nvPr/>
        </p:nvSpPr>
        <p:spPr>
          <a:xfrm>
            <a:off x="4765320" y="5023080"/>
            <a:ext cx="962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Double click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3577680" y="4159440"/>
            <a:ext cx="114912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Unlinking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3614040" y="1459800"/>
            <a:ext cx="114912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Linking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2057400" y="228600"/>
            <a:ext cx="625320" cy="10656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"/>
          <p:cNvSpPr/>
          <p:nvPr/>
        </p:nvSpPr>
        <p:spPr>
          <a:xfrm>
            <a:off x="6332400" y="2973600"/>
            <a:ext cx="625320" cy="10656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" descr=""/>
          <p:cNvPicPr/>
          <p:nvPr/>
        </p:nvPicPr>
        <p:blipFill>
          <a:blip r:embed="rId1"/>
          <a:stretch/>
        </p:blipFill>
        <p:spPr>
          <a:xfrm>
            <a:off x="1826640" y="1700280"/>
            <a:ext cx="6494040" cy="2312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" descr=""/>
          <p:cNvPicPr/>
          <p:nvPr/>
        </p:nvPicPr>
        <p:blipFill>
          <a:blip r:embed="rId1"/>
          <a:stretch/>
        </p:blipFill>
        <p:spPr>
          <a:xfrm>
            <a:off x="694800" y="1417320"/>
            <a:ext cx="3418560" cy="2924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" descr=""/>
          <p:cNvPicPr/>
          <p:nvPr/>
        </p:nvPicPr>
        <p:blipFill>
          <a:blip r:embed="rId1"/>
          <a:stretch/>
        </p:blipFill>
        <p:spPr>
          <a:xfrm>
            <a:off x="1143000" y="279000"/>
            <a:ext cx="3637800" cy="2924640"/>
          </a:xfrm>
          <a:prstGeom prst="rect">
            <a:avLst/>
          </a:prstGeom>
          <a:ln w="0">
            <a:noFill/>
          </a:ln>
        </p:spPr>
      </p:pic>
      <p:pic>
        <p:nvPicPr>
          <p:cNvPr id="141" name="" descr=""/>
          <p:cNvPicPr/>
          <p:nvPr/>
        </p:nvPicPr>
        <p:blipFill>
          <a:blip r:embed="rId2"/>
          <a:stretch/>
        </p:blipFill>
        <p:spPr>
          <a:xfrm>
            <a:off x="5257800" y="276120"/>
            <a:ext cx="3637800" cy="2924640"/>
          </a:xfrm>
          <a:prstGeom prst="rect">
            <a:avLst/>
          </a:prstGeom>
          <a:ln w="0">
            <a:noFill/>
          </a:ln>
        </p:spPr>
      </p:pic>
      <p:sp>
        <p:nvSpPr>
          <p:cNvPr id="142" name=""/>
          <p:cNvSpPr/>
          <p:nvPr/>
        </p:nvSpPr>
        <p:spPr>
          <a:xfrm flipV="1">
            <a:off x="4690800" y="138312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pic>
        <p:nvPicPr>
          <p:cNvPr id="143" name="" descr=""/>
          <p:cNvPicPr/>
          <p:nvPr/>
        </p:nvPicPr>
        <p:blipFill>
          <a:blip r:embed="rId3"/>
          <a:stretch/>
        </p:blipFill>
        <p:spPr>
          <a:xfrm>
            <a:off x="6571800" y="3196080"/>
            <a:ext cx="3162600" cy="2467800"/>
          </a:xfrm>
          <a:prstGeom prst="rect">
            <a:avLst/>
          </a:prstGeom>
          <a:ln w="0">
            <a:noFill/>
          </a:ln>
        </p:spPr>
      </p:pic>
      <p:pic>
        <p:nvPicPr>
          <p:cNvPr id="144" name="" descr=""/>
          <p:cNvPicPr/>
          <p:nvPr/>
        </p:nvPicPr>
        <p:blipFill>
          <a:blip r:embed="rId4"/>
          <a:stretch/>
        </p:blipFill>
        <p:spPr>
          <a:xfrm>
            <a:off x="2027880" y="3230640"/>
            <a:ext cx="3071160" cy="2467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" descr=""/>
          <p:cNvPicPr/>
          <p:nvPr/>
        </p:nvPicPr>
        <p:blipFill>
          <a:blip r:embed="rId1"/>
          <a:stretch/>
        </p:blipFill>
        <p:spPr>
          <a:xfrm>
            <a:off x="870480" y="199080"/>
            <a:ext cx="4087080" cy="2596680"/>
          </a:xfrm>
          <a:prstGeom prst="rect">
            <a:avLst/>
          </a:prstGeom>
          <a:ln w="0">
            <a:noFill/>
          </a:ln>
        </p:spPr>
      </p:pic>
      <p:pic>
        <p:nvPicPr>
          <p:cNvPr id="146" name="" descr=""/>
          <p:cNvPicPr/>
          <p:nvPr/>
        </p:nvPicPr>
        <p:blipFill>
          <a:blip r:embed="rId2"/>
          <a:stretch/>
        </p:blipFill>
        <p:spPr>
          <a:xfrm>
            <a:off x="5513760" y="228600"/>
            <a:ext cx="4087080" cy="2596680"/>
          </a:xfrm>
          <a:prstGeom prst="rect">
            <a:avLst/>
          </a:prstGeom>
          <a:ln w="0">
            <a:noFill/>
          </a:ln>
        </p:spPr>
      </p:pic>
      <p:sp>
        <p:nvSpPr>
          <p:cNvPr id="147" name=""/>
          <p:cNvSpPr/>
          <p:nvPr/>
        </p:nvSpPr>
        <p:spPr>
          <a:xfrm flipV="1">
            <a:off x="4897800" y="148824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48" name=""/>
          <p:cNvSpPr/>
          <p:nvPr/>
        </p:nvSpPr>
        <p:spPr>
          <a:xfrm>
            <a:off x="4700520" y="541800"/>
            <a:ext cx="135972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Impose secondary structure</a:t>
            </a:r>
            <a:endParaRPr b="0" lang="en-US" sz="1600" spc="-1" strike="noStrike">
              <a:latin typeface="Arial"/>
            </a:endParaRPr>
          </a:p>
        </p:txBody>
      </p:sp>
      <p:grpSp>
        <p:nvGrpSpPr>
          <p:cNvPr id="149" name=""/>
          <p:cNvGrpSpPr/>
          <p:nvPr/>
        </p:nvGrpSpPr>
        <p:grpSpPr>
          <a:xfrm>
            <a:off x="372960" y="-2520"/>
            <a:ext cx="1961640" cy="526680"/>
            <a:chOff x="372960" y="-2520"/>
            <a:chExt cx="1961640" cy="526680"/>
          </a:xfrm>
        </p:grpSpPr>
        <p:sp>
          <p:nvSpPr>
            <p:cNvPr id="150" name=""/>
            <p:cNvSpPr/>
            <p:nvPr/>
          </p:nvSpPr>
          <p:spPr>
            <a:xfrm>
              <a:off x="1143000" y="228600"/>
              <a:ext cx="558720" cy="295560"/>
            </a:xfrm>
            <a:prstGeom prst="line">
              <a:avLst/>
            </a:prstGeom>
            <a:ln w="36720">
              <a:solidFill>
                <a:srgbClr val="be480a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" name=""/>
            <p:cNvSpPr/>
            <p:nvPr/>
          </p:nvSpPr>
          <p:spPr>
            <a:xfrm>
              <a:off x="372960" y="-2520"/>
              <a:ext cx="1961640" cy="488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Click to select secondary </a:t>
              </a:r>
              <a:r>
                <a:rPr b="1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structure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152" name=""/>
          <p:cNvSpPr/>
          <p:nvPr/>
        </p:nvSpPr>
        <p:spPr>
          <a:xfrm>
            <a:off x="7011000" y="300960"/>
            <a:ext cx="558720" cy="29556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"/>
          <p:cNvSpPr/>
          <p:nvPr/>
        </p:nvSpPr>
        <p:spPr>
          <a:xfrm>
            <a:off x="6168960" y="-2160"/>
            <a:ext cx="22892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Type secondary structure symbol to refine per residue</a:t>
            </a:r>
            <a:endParaRPr b="0" lang="en-US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" descr=""/>
          <p:cNvPicPr/>
          <p:nvPr/>
        </p:nvPicPr>
        <p:blipFill>
          <a:blip r:embed="rId1"/>
          <a:stretch/>
        </p:blipFill>
        <p:spPr>
          <a:xfrm>
            <a:off x="870480" y="199080"/>
            <a:ext cx="4087080" cy="2596680"/>
          </a:xfrm>
          <a:prstGeom prst="rect">
            <a:avLst/>
          </a:prstGeom>
          <a:ln w="0">
            <a:noFill/>
          </a:ln>
        </p:spPr>
      </p:pic>
      <p:pic>
        <p:nvPicPr>
          <p:cNvPr id="155" name="" descr=""/>
          <p:cNvPicPr/>
          <p:nvPr/>
        </p:nvPicPr>
        <p:blipFill>
          <a:blip r:embed="rId2"/>
          <a:stretch/>
        </p:blipFill>
        <p:spPr>
          <a:xfrm>
            <a:off x="5513760" y="228600"/>
            <a:ext cx="4087080" cy="2596680"/>
          </a:xfrm>
          <a:prstGeom prst="rect">
            <a:avLst/>
          </a:prstGeom>
          <a:ln w="0">
            <a:noFill/>
          </a:ln>
        </p:spPr>
      </p:pic>
      <p:pic>
        <p:nvPicPr>
          <p:cNvPr id="156" name="" descr=""/>
          <p:cNvPicPr/>
          <p:nvPr/>
        </p:nvPicPr>
        <p:blipFill>
          <a:blip r:embed="rId3"/>
          <a:stretch/>
        </p:blipFill>
        <p:spPr>
          <a:xfrm>
            <a:off x="870480" y="3110040"/>
            <a:ext cx="4077720" cy="2596680"/>
          </a:xfrm>
          <a:prstGeom prst="rect">
            <a:avLst/>
          </a:prstGeom>
          <a:ln w="0">
            <a:noFill/>
          </a:ln>
        </p:spPr>
      </p:pic>
      <p:pic>
        <p:nvPicPr>
          <p:cNvPr id="157" name="" descr=""/>
          <p:cNvPicPr/>
          <p:nvPr/>
        </p:nvPicPr>
        <p:blipFill>
          <a:blip r:embed="rId4"/>
          <a:stretch/>
        </p:blipFill>
        <p:spPr>
          <a:xfrm>
            <a:off x="7180200" y="3337560"/>
            <a:ext cx="2678760" cy="2148480"/>
          </a:xfrm>
          <a:prstGeom prst="rect">
            <a:avLst/>
          </a:prstGeom>
          <a:ln w="0">
            <a:noFill/>
          </a:ln>
        </p:spPr>
      </p:pic>
      <p:sp>
        <p:nvSpPr>
          <p:cNvPr id="158" name=""/>
          <p:cNvSpPr/>
          <p:nvPr/>
        </p:nvSpPr>
        <p:spPr>
          <a:xfrm flipV="1">
            <a:off x="4897800" y="148824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"/>
          <p:cNvSpPr/>
          <p:nvPr/>
        </p:nvSpPr>
        <p:spPr>
          <a:xfrm>
            <a:off x="2968560" y="2526120"/>
            <a:ext cx="360" cy="47304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"/>
          <p:cNvSpPr/>
          <p:nvPr/>
        </p:nvSpPr>
        <p:spPr>
          <a:xfrm>
            <a:off x="4700520" y="541800"/>
            <a:ext cx="135972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Imposing 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secondary 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structure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2972520" y="2629800"/>
            <a:ext cx="251352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Using 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a 3D 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templa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5486400" y="4069800"/>
            <a:ext cx="274644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Modifying chignolin using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wild type structure with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new sequence: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G-dY-D-P-E-T-G-T-dW-G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  <p:pic>
        <p:nvPicPr>
          <p:cNvPr id="163" name="" descr=""/>
          <p:cNvPicPr/>
          <p:nvPr/>
        </p:nvPicPr>
        <p:blipFill>
          <a:blip r:embed="rId5"/>
          <a:stretch/>
        </p:blipFill>
        <p:spPr>
          <a:xfrm>
            <a:off x="-4114800" y="2057400"/>
            <a:ext cx="4077720" cy="1105920"/>
          </a:xfrm>
          <a:prstGeom prst="rect">
            <a:avLst/>
          </a:prstGeom>
          <a:ln w="0">
            <a:noFill/>
          </a:ln>
        </p:spPr>
      </p:pic>
      <p:sp>
        <p:nvSpPr>
          <p:cNvPr id="164" name=""/>
          <p:cNvSpPr/>
          <p:nvPr/>
        </p:nvSpPr>
        <p:spPr>
          <a:xfrm>
            <a:off x="1143000" y="228600"/>
            <a:ext cx="558720" cy="29556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"/>
          <p:cNvSpPr/>
          <p:nvPr/>
        </p:nvSpPr>
        <p:spPr>
          <a:xfrm>
            <a:off x="372960" y="-2520"/>
            <a:ext cx="1961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Click to select secondary </a:t>
            </a: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structure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1092960" y="1833480"/>
            <a:ext cx="962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Click 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7011000" y="300960"/>
            <a:ext cx="558720" cy="29556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"/>
          <p:cNvSpPr/>
          <p:nvPr/>
        </p:nvSpPr>
        <p:spPr>
          <a:xfrm>
            <a:off x="6168960" y="-2160"/>
            <a:ext cx="22892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Type secondary </a:t>
            </a: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structure symbol to </a:t>
            </a: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refine per residue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69" name="" descr=""/>
          <p:cNvPicPr/>
          <p:nvPr/>
        </p:nvPicPr>
        <p:blipFill>
          <a:blip r:embed="rId6"/>
          <a:stretch/>
        </p:blipFill>
        <p:spPr>
          <a:xfrm>
            <a:off x="-1371600" y="3429000"/>
            <a:ext cx="4077720" cy="1105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" descr=""/>
          <p:cNvPicPr/>
          <p:nvPr/>
        </p:nvPicPr>
        <p:blipFill>
          <a:blip r:embed="rId1"/>
          <a:stretch/>
        </p:blipFill>
        <p:spPr>
          <a:xfrm>
            <a:off x="740520" y="1739520"/>
            <a:ext cx="3831480" cy="2011680"/>
          </a:xfrm>
          <a:prstGeom prst="rect">
            <a:avLst/>
          </a:prstGeom>
          <a:ln w="0">
            <a:noFill/>
          </a:ln>
        </p:spPr>
      </p:pic>
      <p:pic>
        <p:nvPicPr>
          <p:cNvPr id="171" name="" descr=""/>
          <p:cNvPicPr/>
          <p:nvPr/>
        </p:nvPicPr>
        <p:blipFill>
          <a:blip r:embed="rId2"/>
          <a:stretch/>
        </p:blipFill>
        <p:spPr>
          <a:xfrm>
            <a:off x="5634000" y="1697040"/>
            <a:ext cx="3968640" cy="2011680"/>
          </a:xfrm>
          <a:prstGeom prst="rect">
            <a:avLst/>
          </a:prstGeom>
          <a:ln w="0">
            <a:noFill/>
          </a:ln>
        </p:spPr>
      </p:pic>
      <p:pic>
        <p:nvPicPr>
          <p:cNvPr id="172" name="" descr=""/>
          <p:cNvPicPr/>
          <p:nvPr/>
        </p:nvPicPr>
        <p:blipFill>
          <a:blip r:embed="rId3"/>
          <a:stretch/>
        </p:blipFill>
        <p:spPr>
          <a:xfrm>
            <a:off x="3200400" y="594720"/>
            <a:ext cx="2057400" cy="1234080"/>
          </a:xfrm>
          <a:prstGeom prst="rect">
            <a:avLst/>
          </a:prstGeom>
          <a:ln w="0">
            <a:noFill/>
          </a:ln>
        </p:spPr>
      </p:pic>
      <p:sp>
        <p:nvSpPr>
          <p:cNvPr id="173" name=""/>
          <p:cNvSpPr/>
          <p:nvPr/>
        </p:nvSpPr>
        <p:spPr>
          <a:xfrm flipH="1">
            <a:off x="1953720" y="1143000"/>
            <a:ext cx="103680" cy="96552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"/>
          <p:cNvSpPr/>
          <p:nvPr/>
        </p:nvSpPr>
        <p:spPr>
          <a:xfrm>
            <a:off x="1238760" y="883440"/>
            <a:ext cx="1961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1. Click to select 3D template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1238760" y="4541040"/>
            <a:ext cx="1961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2. Click to configure 3D template mapping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 flipH="1" flipV="1">
            <a:off x="8047800" y="3641760"/>
            <a:ext cx="410400" cy="49608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"/>
          <p:cNvSpPr/>
          <p:nvPr/>
        </p:nvSpPr>
        <p:spPr>
          <a:xfrm>
            <a:off x="7788960" y="4137840"/>
            <a:ext cx="1961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5. Click to generate </a:t>
            </a: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3D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78" name="" descr=""/>
          <p:cNvPicPr/>
          <p:nvPr/>
        </p:nvPicPr>
        <p:blipFill>
          <a:blip r:embed="rId4"/>
          <a:stretch/>
        </p:blipFill>
        <p:spPr>
          <a:xfrm>
            <a:off x="4074480" y="3885840"/>
            <a:ext cx="1869120" cy="1072080"/>
          </a:xfrm>
          <a:prstGeom prst="rect">
            <a:avLst/>
          </a:prstGeom>
          <a:ln w="0">
            <a:noFill/>
          </a:ln>
        </p:spPr>
      </p:pic>
      <p:sp>
        <p:nvSpPr>
          <p:cNvPr id="179" name=""/>
          <p:cNvSpPr txBox="1"/>
          <p:nvPr/>
        </p:nvSpPr>
        <p:spPr>
          <a:xfrm>
            <a:off x="4177800" y="4897800"/>
            <a:ext cx="15372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3. Refine Mapping</a:t>
            </a:r>
            <a:endParaRPr b="0" lang="en-US" sz="1000" spc="-1" strike="noStrike">
              <a:latin typeface="Arial"/>
            </a:endParaRPr>
          </a:p>
          <a:p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(chain, offset)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80" name=""/>
          <p:cNvSpPr/>
          <p:nvPr/>
        </p:nvSpPr>
        <p:spPr>
          <a:xfrm flipV="1">
            <a:off x="7315200" y="3200400"/>
            <a:ext cx="228600" cy="91440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81" name=""/>
          <p:cNvSpPr/>
          <p:nvPr/>
        </p:nvSpPr>
        <p:spPr>
          <a:xfrm>
            <a:off x="6168960" y="4114800"/>
            <a:ext cx="137484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 Refine mapping on a per residue basis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 flipV="1">
            <a:off x="2514600" y="3200400"/>
            <a:ext cx="3886200" cy="134064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649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2025-12-10T15:46:13Z</dcterms:created>
  <dc:creator>Pierre Tuffery</dc:creator>
  <dc:description/>
  <dc:language>en-US</dc:language>
  <cp:lastModifiedBy>Pierre Tuffery</cp:lastModifiedBy>
  <dcterms:modified xsi:type="dcterms:W3CDTF">2025-12-18T13:17:48Z</dcterms:modified>
  <cp:revision>25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