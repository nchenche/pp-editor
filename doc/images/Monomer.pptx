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01BD10-D068-4A7C-A013-3278BC4DFAD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F89B17-57A6-4916-9FD0-BB13085D06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27A34C-F292-475D-B44B-0D7201C030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D2472C-1F1A-4817-BB92-A01624595D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B34AC6-E0B5-4FD7-86CB-AF87E9DE0E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020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5095FB-AB5F-453E-A09E-50690D9744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1EA222-961E-4239-803A-23F3CD6CAC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320" y="30438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84EDAB-8A5D-4292-BC9A-FB39F5C8CC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90709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5F6162-0748-4559-913C-70E3F92C97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3800"/>
            <a:ext cx="90709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17CAB1-BF71-4B25-8B91-64AA580918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320" y="30438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6C32B6-930A-41A0-9550-C5AA688C8B2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38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38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38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B43ADA-4C08-4645-A3C8-FA0AED5BC52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D2DB82-DD64-4A22-A25C-3AAF235E049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39A562-0392-475B-9BAB-1202569A96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2DD63F-BE4E-4B91-98E8-AFF26D4A91E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92C140D-7739-4C0E-B896-596E1681D6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0433C0-4BAC-4E1F-8780-6C897D3ED5D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0200" cy="438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D42AE4C-1552-49DB-8D7F-B15CBF389D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4318039-6BCB-4911-9769-35D1FAEC19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320" y="30438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E07F5E8-18EB-4060-8216-FD67302B49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90709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3F5D9D-1B9C-4C11-8A60-2289CA734A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3043800"/>
            <a:ext cx="907092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FA7730-DC7D-420E-9863-A3AFA29F4B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320" y="13266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30438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320" y="3043800"/>
            <a:ext cx="442656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ABC5BC5-8CA9-46C6-941A-9DC7F69CAD7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30438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200" y="30438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8040" y="3043800"/>
            <a:ext cx="2920680" cy="156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E9FFFC2-8B00-43E5-9BBB-EA310C04260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18584F4E-10C1-44D7-BA52-AD9143C62B2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20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</a:t>
            </a:r>
            <a:r>
              <a:rPr b="0" lang="en-US" sz="1800" spc="-1" strike="noStrike">
                <a:latin typeface="Arial"/>
              </a:rPr>
              <a:t>l</a:t>
            </a:r>
            <a:r>
              <a:rPr b="0" lang="en-US" sz="1800" spc="-1" strike="noStrike">
                <a:latin typeface="Arial"/>
              </a:rPr>
              <a:t>i</a:t>
            </a:r>
            <a:r>
              <a:rPr b="0" lang="en-US" sz="1800" spc="-1" strike="noStrike">
                <a:latin typeface="Arial"/>
              </a:rPr>
              <a:t>c</a:t>
            </a:r>
            <a:r>
              <a:rPr b="0" lang="en-US" sz="1800" spc="-1" strike="noStrike">
                <a:latin typeface="Arial"/>
              </a:rPr>
              <a:t>k</a:t>
            </a:r>
            <a:r>
              <a:rPr b="0" lang="en-US" sz="1800" spc="-1" strike="noStrike">
                <a:latin typeface="Arial"/>
              </a:rPr>
              <a:t> </a:t>
            </a:r>
            <a:r>
              <a:rPr b="0" lang="en-US" sz="1800" spc="-1" strike="noStrike">
                <a:latin typeface="Arial"/>
              </a:rPr>
              <a:t>t</a:t>
            </a:r>
            <a:r>
              <a:rPr b="0" lang="en-US" sz="1800" spc="-1" strike="noStrike">
                <a:latin typeface="Arial"/>
              </a:rPr>
              <a:t>o</a:t>
            </a:r>
            <a:r>
              <a:rPr b="0" lang="en-US" sz="1800" spc="-1" strike="noStrike">
                <a:latin typeface="Arial"/>
              </a:rPr>
              <a:t> </a:t>
            </a:r>
            <a:r>
              <a:rPr b="0" lang="en-US" sz="1800" spc="-1" strike="noStrike">
                <a:latin typeface="Arial"/>
              </a:rPr>
              <a:t>e</a:t>
            </a:r>
            <a:r>
              <a:rPr b="0" lang="en-US" sz="1800" spc="-1" strike="noStrike">
                <a:latin typeface="Arial"/>
              </a:rPr>
              <a:t>d</a:t>
            </a:r>
            <a:r>
              <a:rPr b="0" lang="en-US" sz="1800" spc="-1" strike="noStrike">
                <a:latin typeface="Arial"/>
              </a:rPr>
              <a:t>i</a:t>
            </a:r>
            <a:r>
              <a:rPr b="0" lang="en-US" sz="1800" spc="-1" strike="noStrike">
                <a:latin typeface="Arial"/>
              </a:rPr>
              <a:t>t</a:t>
            </a:r>
            <a:r>
              <a:rPr b="0" lang="en-US" sz="1800" spc="-1" strike="noStrike">
                <a:latin typeface="Arial"/>
              </a:rPr>
              <a:t> </a:t>
            </a:r>
            <a:r>
              <a:rPr b="0" lang="en-US" sz="1800" spc="-1" strike="noStrike">
                <a:latin typeface="Arial"/>
              </a:rPr>
              <a:t>t</a:t>
            </a:r>
            <a:r>
              <a:rPr b="0" lang="en-US" sz="1800" spc="-1" strike="noStrike">
                <a:latin typeface="Arial"/>
              </a:rPr>
              <a:t>h</a:t>
            </a:r>
            <a:r>
              <a:rPr b="0" lang="en-US" sz="1800" spc="-1" strike="noStrike">
                <a:latin typeface="Arial"/>
              </a:rPr>
              <a:t>e</a:t>
            </a:r>
            <a:r>
              <a:rPr b="0" lang="en-US" sz="1800" spc="-1" strike="noStrike">
                <a:latin typeface="Arial"/>
              </a:rPr>
              <a:t> </a:t>
            </a:r>
            <a:r>
              <a:rPr b="0" lang="en-US" sz="1800" spc="-1" strike="noStrike">
                <a:latin typeface="Arial"/>
              </a:rPr>
              <a:t>t</a:t>
            </a:r>
            <a:r>
              <a:rPr b="0" lang="en-US" sz="1800" spc="-1" strike="noStrike">
                <a:latin typeface="Arial"/>
              </a:rPr>
              <a:t>i</a:t>
            </a:r>
            <a:r>
              <a:rPr b="0" lang="en-US" sz="1800" spc="-1" strike="noStrike">
                <a:latin typeface="Arial"/>
              </a:rPr>
              <a:t>t</a:t>
            </a:r>
            <a:r>
              <a:rPr b="0" lang="en-US" sz="1800" spc="-1" strike="noStrike">
                <a:latin typeface="Arial"/>
              </a:rPr>
              <a:t>l</a:t>
            </a:r>
            <a:r>
              <a:rPr b="0" lang="en-US" sz="1800" spc="-1" strike="noStrike">
                <a:latin typeface="Arial"/>
              </a:rPr>
              <a:t>e</a:t>
            </a:r>
            <a:r>
              <a:rPr b="0" lang="en-US" sz="1800" spc="-1" strike="noStrike">
                <a:latin typeface="Arial"/>
              </a:rPr>
              <a:t> </a:t>
            </a:r>
            <a:r>
              <a:rPr b="0" lang="en-US" sz="1800" spc="-1" strike="noStrike">
                <a:latin typeface="Arial"/>
              </a:rPr>
              <a:t>t</a:t>
            </a:r>
            <a:r>
              <a:rPr b="0" lang="en-US" sz="1800" spc="-1" strike="noStrike">
                <a:latin typeface="Arial"/>
              </a:rPr>
              <a:t>e</a:t>
            </a:r>
            <a:r>
              <a:rPr b="0" lang="en-US" sz="1800" spc="-1" strike="noStrike">
                <a:latin typeface="Arial"/>
              </a:rPr>
              <a:t>x</a:t>
            </a:r>
            <a:r>
              <a:rPr b="0" lang="en-US" sz="1800" spc="-1" strike="noStrike">
                <a:latin typeface="Arial"/>
              </a:rPr>
              <a:t>t</a:t>
            </a:r>
            <a:r>
              <a:rPr b="0" lang="en-US" sz="1800" spc="-1" strike="noStrike">
                <a:latin typeface="Arial"/>
              </a:rPr>
              <a:t> </a:t>
            </a:r>
            <a:r>
              <a:rPr b="0" lang="en-US" sz="1800" spc="-1" strike="noStrike">
                <a:latin typeface="Arial"/>
              </a:rPr>
              <a:t>f</a:t>
            </a:r>
            <a:r>
              <a:rPr b="0" lang="en-US" sz="1800" spc="-1" strike="noStrike">
                <a:latin typeface="Arial"/>
              </a:rPr>
              <a:t>o</a:t>
            </a:r>
            <a:r>
              <a:rPr b="0" lang="en-US" sz="1800" spc="-1" strike="noStrike">
                <a:latin typeface="Arial"/>
              </a:rPr>
              <a:t>r</a:t>
            </a:r>
            <a:r>
              <a:rPr b="0" lang="en-US" sz="1800" spc="-1" strike="noStrike">
                <a:latin typeface="Arial"/>
              </a:rPr>
              <a:t>m</a:t>
            </a:r>
            <a:r>
              <a:rPr b="0" lang="en-US" sz="1800" spc="-1" strike="noStrike">
                <a:latin typeface="Arial"/>
              </a:rPr>
              <a:t>a</a:t>
            </a:r>
            <a:r>
              <a:rPr b="0" lang="en-US" sz="1800" spc="-1" strike="noStrike">
                <a:latin typeface="Arial"/>
              </a:rPr>
              <a:t>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F6860444-0E71-45C8-8178-EBBECD7F562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3648600" y="1162440"/>
            <a:ext cx="2522160" cy="3636720"/>
          </a:xfrm>
          <a:prstGeom prst="rect">
            <a:avLst/>
          </a:prstGeom>
          <a:ln w="0">
            <a:noFill/>
          </a:ln>
        </p:spPr>
      </p:pic>
      <p:sp>
        <p:nvSpPr>
          <p:cNvPr id="83" name=""/>
          <p:cNvSpPr/>
          <p:nvPr/>
        </p:nvSpPr>
        <p:spPr>
          <a:xfrm flipH="1">
            <a:off x="6123600" y="3922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"/>
          <p:cNvSpPr/>
          <p:nvPr/>
        </p:nvSpPr>
        <p:spPr>
          <a:xfrm>
            <a:off x="6955200" y="3742200"/>
            <a:ext cx="17766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name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 flipH="1">
            <a:off x="6132960" y="4246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"/>
          <p:cNvSpPr/>
          <p:nvPr/>
        </p:nvSpPr>
        <p:spPr>
          <a:xfrm>
            <a:off x="6955560" y="4066200"/>
            <a:ext cx="13208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name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 flipH="1">
            <a:off x="6142320" y="4534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"/>
          <p:cNvSpPr/>
          <p:nvPr/>
        </p:nvSpPr>
        <p:spPr>
          <a:xfrm>
            <a:off x="6955920" y="4354200"/>
            <a:ext cx="2197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 letter name (PDB)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5871600" y="1143000"/>
            <a:ext cx="455760" cy="2513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" descr=""/>
          <p:cNvPicPr/>
          <p:nvPr/>
        </p:nvPicPr>
        <p:blipFill>
          <a:blip r:embed="rId1"/>
          <a:stretch/>
        </p:blipFill>
        <p:spPr>
          <a:xfrm>
            <a:off x="1371600" y="228600"/>
            <a:ext cx="5756760" cy="5065920"/>
          </a:xfrm>
          <a:prstGeom prst="rect">
            <a:avLst/>
          </a:prstGeom>
          <a:ln w="0">
            <a:noFill/>
          </a:ln>
        </p:spPr>
      </p:pic>
      <p:sp>
        <p:nvSpPr>
          <p:cNvPr id="91" name=""/>
          <p:cNvSpPr/>
          <p:nvPr/>
        </p:nvSpPr>
        <p:spPr>
          <a:xfrm>
            <a:off x="7795800" y="685800"/>
            <a:ext cx="1347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Text search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7796160" y="1297800"/>
            <a:ext cx="17265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Monomer class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7796520" y="4177800"/>
            <a:ext cx="228348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Proposed Monomers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 flipH="1">
            <a:off x="6629400" y="91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"/>
          <p:cNvSpPr/>
          <p:nvPr/>
        </p:nvSpPr>
        <p:spPr>
          <a:xfrm flipH="1">
            <a:off x="6638760" y="145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"/>
          <p:cNvSpPr/>
          <p:nvPr/>
        </p:nvSpPr>
        <p:spPr>
          <a:xfrm flipH="1">
            <a:off x="6648120" y="4370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"/>
          <p:cNvSpPr/>
          <p:nvPr/>
        </p:nvSpPr>
        <p:spPr>
          <a:xfrm flipH="1">
            <a:off x="5715000" y="3429000"/>
            <a:ext cx="20574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"/>
          <p:cNvSpPr/>
          <p:nvPr/>
        </p:nvSpPr>
        <p:spPr>
          <a:xfrm>
            <a:off x="7796520" y="2881800"/>
            <a:ext cx="20325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Append/prepend/ monomer to BILN sequence of given Chain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 flipH="1" flipV="1">
            <a:off x="2743200" y="2743200"/>
            <a:ext cx="502920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"/>
          <p:cNvSpPr/>
          <p:nvPr/>
        </p:nvSpPr>
        <p:spPr>
          <a:xfrm flipH="1" flipV="1">
            <a:off x="3657600" y="2743200"/>
            <a:ext cx="413892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565200" y="819000"/>
            <a:ext cx="6941160" cy="3838320"/>
          </a:xfrm>
          <a:prstGeom prst="rect">
            <a:avLst/>
          </a:prstGeom>
          <a:ln w="0">
            <a:noFill/>
          </a:ln>
        </p:spPr>
      </p:pic>
      <p:sp>
        <p:nvSpPr>
          <p:cNvPr id="102" name=""/>
          <p:cNvSpPr/>
          <p:nvPr/>
        </p:nvSpPr>
        <p:spPr>
          <a:xfrm flipH="1">
            <a:off x="7250760" y="2462400"/>
            <a:ext cx="75024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"/>
          <p:cNvSpPr/>
          <p:nvPr/>
        </p:nvSpPr>
        <p:spPr>
          <a:xfrm>
            <a:off x="5257800" y="685800"/>
            <a:ext cx="2284920" cy="411372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"/>
          <p:cNvSpPr/>
          <p:nvPr/>
        </p:nvSpPr>
        <p:spPr>
          <a:xfrm>
            <a:off x="8012520" y="2269800"/>
            <a:ext cx="1206720" cy="60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library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 flipH="1">
            <a:off x="1572120" y="685800"/>
            <a:ext cx="6480" cy="1020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"/>
          <p:cNvSpPr/>
          <p:nvPr/>
        </p:nvSpPr>
        <p:spPr>
          <a:xfrm>
            <a:off x="560880" y="361800"/>
            <a:ext cx="17388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sequence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 flipH="1">
            <a:off x="2901960" y="685800"/>
            <a:ext cx="298440" cy="1587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"/>
          <p:cNvSpPr/>
          <p:nvPr/>
        </p:nvSpPr>
        <p:spPr>
          <a:xfrm>
            <a:off x="2721240" y="361800"/>
            <a:ext cx="16380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constraints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885600" y="4789800"/>
            <a:ext cx="1446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2D depiction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3225600" y="4789800"/>
            <a:ext cx="14461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depiction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613800" y="937800"/>
            <a:ext cx="4486320" cy="103392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"/>
          <p:cNvSpPr/>
          <p:nvPr/>
        </p:nvSpPr>
        <p:spPr>
          <a:xfrm>
            <a:off x="613800" y="2017800"/>
            <a:ext cx="4486320" cy="72432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"/>
          <p:cNvSpPr/>
          <p:nvPr/>
        </p:nvSpPr>
        <p:spPr>
          <a:xfrm>
            <a:off x="649800" y="2815200"/>
            <a:ext cx="2128320" cy="184212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"/>
          <p:cNvSpPr/>
          <p:nvPr/>
        </p:nvSpPr>
        <p:spPr>
          <a:xfrm>
            <a:off x="2863800" y="2815200"/>
            <a:ext cx="2230920" cy="184212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"/>
          <p:cNvSpPr/>
          <p:nvPr/>
        </p:nvSpPr>
        <p:spPr>
          <a:xfrm flipV="1">
            <a:off x="1708200" y="437940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"/>
          <p:cNvSpPr/>
          <p:nvPr/>
        </p:nvSpPr>
        <p:spPr>
          <a:xfrm flipV="1">
            <a:off x="3796200" y="438876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" descr=""/>
          <p:cNvPicPr/>
          <p:nvPr/>
        </p:nvPicPr>
        <p:blipFill>
          <a:blip r:embed="rId1"/>
          <a:stretch/>
        </p:blipFill>
        <p:spPr>
          <a:xfrm>
            <a:off x="4572000" y="133200"/>
            <a:ext cx="2833920" cy="2742480"/>
          </a:xfrm>
          <a:prstGeom prst="rect">
            <a:avLst/>
          </a:prstGeom>
          <a:ln w="0">
            <a:noFill/>
          </a:ln>
        </p:spPr>
      </p:pic>
      <p:pic>
        <p:nvPicPr>
          <p:cNvPr id="118" name="" descr=""/>
          <p:cNvPicPr/>
          <p:nvPr/>
        </p:nvPicPr>
        <p:blipFill>
          <a:blip r:embed="rId2"/>
          <a:stretch/>
        </p:blipFill>
        <p:spPr>
          <a:xfrm>
            <a:off x="685800" y="139680"/>
            <a:ext cx="2660040" cy="2573640"/>
          </a:xfrm>
          <a:prstGeom prst="rect">
            <a:avLst/>
          </a:prstGeom>
          <a:ln w="0">
            <a:noFill/>
          </a:ln>
        </p:spPr>
      </p:pic>
      <p:sp>
        <p:nvSpPr>
          <p:cNvPr id="119" name=""/>
          <p:cNvSpPr/>
          <p:nvPr/>
        </p:nvSpPr>
        <p:spPr>
          <a:xfrm flipV="1">
            <a:off x="1758600" y="1837800"/>
            <a:ext cx="429120" cy="2145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"/>
          <p:cNvSpPr/>
          <p:nvPr/>
        </p:nvSpPr>
        <p:spPr>
          <a:xfrm flipV="1">
            <a:off x="1750320" y="255636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"/>
          <p:cNvSpPr/>
          <p:nvPr/>
        </p:nvSpPr>
        <p:spPr>
          <a:xfrm>
            <a:off x="1092960" y="2610720"/>
            <a:ext cx="96372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1092960" y="1833480"/>
            <a:ext cx="96372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Click 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 flipV="1">
            <a:off x="3691800" y="181800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24" name="" descr=""/>
          <p:cNvPicPr/>
          <p:nvPr/>
        </p:nvPicPr>
        <p:blipFill>
          <a:blip r:embed="rId3"/>
          <a:stretch/>
        </p:blipFill>
        <p:spPr>
          <a:xfrm>
            <a:off x="4572000" y="2876400"/>
            <a:ext cx="2833920" cy="2742480"/>
          </a:xfrm>
          <a:prstGeom prst="rect">
            <a:avLst/>
          </a:prstGeom>
          <a:ln w="0">
            <a:noFill/>
          </a:ln>
        </p:spPr>
      </p:pic>
      <p:pic>
        <p:nvPicPr>
          <p:cNvPr id="125" name="" descr=""/>
          <p:cNvPicPr/>
          <p:nvPr/>
        </p:nvPicPr>
        <p:blipFill>
          <a:blip r:embed="rId4"/>
          <a:stretch/>
        </p:blipFill>
        <p:spPr>
          <a:xfrm>
            <a:off x="545760" y="2927520"/>
            <a:ext cx="2833920" cy="2742480"/>
          </a:xfrm>
          <a:prstGeom prst="rect">
            <a:avLst/>
          </a:prstGeom>
          <a:ln w="0">
            <a:noFill/>
          </a:ln>
        </p:spPr>
      </p:pic>
      <p:sp>
        <p:nvSpPr>
          <p:cNvPr id="126" name=""/>
          <p:cNvSpPr/>
          <p:nvPr/>
        </p:nvSpPr>
        <p:spPr>
          <a:xfrm flipH="1" flipV="1">
            <a:off x="3682440" y="451548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"/>
          <p:cNvSpPr/>
          <p:nvPr/>
        </p:nvSpPr>
        <p:spPr>
          <a:xfrm flipV="1">
            <a:off x="5484960" y="497772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"/>
          <p:cNvSpPr/>
          <p:nvPr/>
        </p:nvSpPr>
        <p:spPr>
          <a:xfrm>
            <a:off x="4765320" y="5023080"/>
            <a:ext cx="96372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Double click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3577680" y="4159440"/>
            <a:ext cx="11502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Unlinking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3614040" y="1459800"/>
            <a:ext cx="115020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Linking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2057400" y="228600"/>
            <a:ext cx="625320" cy="106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"/>
          <p:cNvSpPr/>
          <p:nvPr/>
        </p:nvSpPr>
        <p:spPr>
          <a:xfrm>
            <a:off x="6332400" y="2973600"/>
            <a:ext cx="625320" cy="106560"/>
          </a:xfrm>
          <a:prstGeom prst="line">
            <a:avLst/>
          </a:prstGeom>
          <a:ln w="36720">
            <a:solidFill>
              <a:srgbClr val="be480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1826640" y="1700280"/>
            <a:ext cx="6495120" cy="2313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" descr=""/>
          <p:cNvPicPr/>
          <p:nvPr/>
        </p:nvPicPr>
        <p:blipFill>
          <a:blip r:embed="rId1"/>
          <a:stretch/>
        </p:blipFill>
        <p:spPr>
          <a:xfrm>
            <a:off x="694800" y="1417320"/>
            <a:ext cx="3419640" cy="2925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1143000" y="279000"/>
            <a:ext cx="3638880" cy="2925720"/>
          </a:xfrm>
          <a:prstGeom prst="rect">
            <a:avLst/>
          </a:prstGeom>
          <a:ln w="0">
            <a:noFill/>
          </a:ln>
        </p:spPr>
      </p:pic>
      <p:pic>
        <p:nvPicPr>
          <p:cNvPr id="136" name="" descr=""/>
          <p:cNvPicPr/>
          <p:nvPr/>
        </p:nvPicPr>
        <p:blipFill>
          <a:blip r:embed="rId2"/>
          <a:stretch/>
        </p:blipFill>
        <p:spPr>
          <a:xfrm>
            <a:off x="5257800" y="276120"/>
            <a:ext cx="3638880" cy="2925720"/>
          </a:xfrm>
          <a:prstGeom prst="rect">
            <a:avLst/>
          </a:prstGeom>
          <a:ln w="0">
            <a:noFill/>
          </a:ln>
        </p:spPr>
      </p:pic>
      <p:sp>
        <p:nvSpPr>
          <p:cNvPr id="137" name=""/>
          <p:cNvSpPr/>
          <p:nvPr/>
        </p:nvSpPr>
        <p:spPr>
          <a:xfrm flipV="1">
            <a:off x="4690800" y="138312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38" name="" descr=""/>
          <p:cNvPicPr/>
          <p:nvPr/>
        </p:nvPicPr>
        <p:blipFill>
          <a:blip r:embed="rId3"/>
          <a:stretch/>
        </p:blipFill>
        <p:spPr>
          <a:xfrm>
            <a:off x="6571800" y="3196080"/>
            <a:ext cx="3163680" cy="2468880"/>
          </a:xfrm>
          <a:prstGeom prst="rect">
            <a:avLst/>
          </a:prstGeom>
          <a:ln w="0">
            <a:noFill/>
          </a:ln>
        </p:spPr>
      </p:pic>
      <p:pic>
        <p:nvPicPr>
          <p:cNvPr id="139" name="" descr=""/>
          <p:cNvPicPr/>
          <p:nvPr/>
        </p:nvPicPr>
        <p:blipFill>
          <a:blip r:embed="rId4"/>
          <a:stretch/>
        </p:blipFill>
        <p:spPr>
          <a:xfrm>
            <a:off x="2027880" y="3230640"/>
            <a:ext cx="3072240" cy="2468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512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2025-12-10T15:46:13Z</dcterms:created>
  <dc:creator>Pierre Tuffery</dc:creator>
  <dc:description/>
  <dc:language>en-US</dc:language>
  <cp:lastModifiedBy>Pierre Tuffery</cp:lastModifiedBy>
  <dcterms:modified xsi:type="dcterms:W3CDTF">2025-12-15T17:27:21Z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